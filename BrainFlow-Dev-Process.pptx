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-1645920"/>
            <a:ext cx="5029200" cy="50292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1097280"/>
            <a:ext cx="2743200" cy="2743200"/>
          </a:xfrm>
          <a:prstGeom prst="ellipse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2560320"/>
            <a:ext cx="3200400" cy="3200400"/>
          </a:xfrm>
          <a:prstGeom prst="ellipse">
            <a:avLst/>
          </a:prstGeom>
          <a:solidFill>
            <a:srgbClr val="34D39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54864" cy="2286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6400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800" b="1" i="0">
                <a:solidFill>
                  <a:srgbClr val="FFFFFF"/>
                </a:solidFill>
                <a:latin typeface="Arial Black"/>
              </a:rPr>
              <a:t>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6400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800" b="1" i="0">
                <a:solidFill>
                  <a:srgbClr val="818CF8"/>
                </a:solidFill>
                <a:latin typeface="Arial Black"/>
              </a:rP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9498A6"/>
                </a:solidFill>
                <a:latin typeface="Calibri"/>
              </a:rPr>
              <a:t>One developer.  Full team.  AI orchestration.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401568"/>
            <a:ext cx="3200400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A portfolio case study by Mirko  ·  2026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0" y="4389120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4133087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387705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818CF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0" cy="256032"/>
          </a:xfrm>
          <a:prstGeom prst="rect">
            <a:avLst/>
          </a:prstGeom>
          <a:solidFill>
            <a:srgbClr val="818CF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THE PREMISE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4937760" cy="2651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FFFFF"/>
                </a:solidFill>
                <a:latin typeface="Arial Black"/>
              </a:rPr>
              <a:t>What if one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Arial Black"/>
              </a:rPr>
              <a:t>person could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Arial Black"/>
              </a:rPr>
              <a:t>do it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49377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98A6"/>
                </a:solidFill>
                <a:latin typeface="Calibri"/>
              </a:rPr>
              <a:t>BrainFlow was built to answer this: a full product — designed, engineered, documented, and pitched — by a single developer directing specialized AI agents.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749808"/>
            <a:ext cx="2743200" cy="548640"/>
          </a:xfrm>
          <a:prstGeom prst="rect">
            <a:avLst/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99632" y="914400"/>
            <a:ext cx="219456" cy="21945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749808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0F1F5"/>
                </a:solidFill>
                <a:latin typeface="Calibri"/>
              </a:rPr>
              <a:t>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45336"/>
            <a:ext cx="2743200" cy="548640"/>
          </a:xfrm>
          <a:prstGeom prst="rect">
            <a:avLst/>
          </a:prstGeom>
          <a:solidFill>
            <a:srgbClr val="818CF8">
              <a:alpha val="18000"/>
            </a:srgbClr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99632" y="1709928"/>
            <a:ext cx="219456" cy="21945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0F1F5"/>
                </a:solidFill>
                <a:latin typeface="Calibri"/>
              </a:rPr>
              <a:t>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340864"/>
            <a:ext cx="2743200" cy="548640"/>
          </a:xfrm>
          <a:prstGeom prst="rect">
            <a:avLst/>
          </a:prstGeom>
          <a:solidFill>
            <a:srgbClr val="38BDF8">
              <a:alpha val="18000"/>
            </a:srgbClr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99632" y="2505456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340864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0F1F5"/>
                </a:solidFill>
                <a:latin typeface="Calibri"/>
              </a:rPr>
              <a:t>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136391"/>
            <a:ext cx="2743200" cy="548640"/>
          </a:xfrm>
          <a:prstGeom prst="rect">
            <a:avLst/>
          </a:prstGeom>
          <a:solidFill>
            <a:srgbClr val="FBBF24">
              <a:alpha val="18000"/>
            </a:srgbClr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99632" y="3300984"/>
            <a:ext cx="219456" cy="21945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36391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0F1F5"/>
                </a:solidFill>
                <a:latin typeface="Calibri"/>
              </a:rPr>
              <a:t>Presentation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931920"/>
            <a:ext cx="2743200" cy="548640"/>
          </a:xfrm>
          <a:prstGeom prst="rect">
            <a:avLst/>
          </a:prstGeom>
          <a:solidFill>
            <a:srgbClr val="34D399">
              <a:alpha val="18000"/>
            </a:srgbClr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9632" y="4096511"/>
            <a:ext cx="219456" cy="21945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0F1F5"/>
                </a:solidFill>
                <a:latin typeface="Calibri"/>
              </a:rPr>
              <a:t>Architecture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AI Agent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98A6"/>
                </a:solidFill>
                <a:latin typeface="Calibri"/>
              </a:rPr>
              <a:t>Five specialized agents — each with a defined scope, skill prompt, and execution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1591056" cy="34747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53312"/>
            <a:ext cx="1591056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5" y="1536192"/>
            <a:ext cx="475488" cy="475488"/>
          </a:xfrm>
          <a:prstGeom prst="ellipse">
            <a:avLst/>
          </a:prstGeom>
          <a:solidFill>
            <a:srgbClr val="38BDF8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5" y="1536192"/>
            <a:ext cx="475488" cy="475488"/>
          </a:xfrm>
          <a:prstGeom prst="ellipse">
            <a:avLst/>
          </a:prstGeom>
          <a:noFill/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03120"/>
            <a:ext cx="14081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38BDF8"/>
                </a:solidFill>
                <a:latin typeface="Arial Black"/>
              </a:rPr>
              <a:t>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1371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9498A6"/>
                </a:solidFill>
                <a:latin typeface="Calibri"/>
              </a:rPr>
              <a:t>Researches the codebase, finds patterns, deep-dives into unfamiliar territory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57984" y="1353312"/>
            <a:ext cx="1591056" cy="34747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57984" y="1353312"/>
            <a:ext cx="1591056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15768" y="1536192"/>
            <a:ext cx="475488" cy="475488"/>
          </a:xfrm>
          <a:prstGeom prst="ellipse">
            <a:avLst/>
          </a:prstGeom>
          <a:solidFill>
            <a:srgbClr val="A78BF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15768" y="1536192"/>
            <a:ext cx="475488" cy="475488"/>
          </a:xfrm>
          <a:prstGeom prst="ellipse">
            <a:avLst/>
          </a:prstGeom>
          <a:noFill/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2103120"/>
            <a:ext cx="14081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A78BFA"/>
                </a:solidFill>
                <a:latin typeface="Arial Black"/>
              </a:rPr>
              <a:t>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578608"/>
            <a:ext cx="1371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9498A6"/>
                </a:solidFill>
                <a:latin typeface="Calibri"/>
              </a:rPr>
              <a:t>Visual identity, color decisions, layout, slides — enforces design tokens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7056" y="1353312"/>
            <a:ext cx="1591056" cy="34747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53312"/>
            <a:ext cx="1591056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1536192"/>
            <a:ext cx="475488" cy="475488"/>
          </a:xfrm>
          <a:prstGeom prst="ellipse">
            <a:avLst/>
          </a:prstGeom>
          <a:solidFill>
            <a:srgbClr val="818CF8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4840" y="1536192"/>
            <a:ext cx="475488" cy="475488"/>
          </a:xfrm>
          <a:prstGeom prst="ellipse">
            <a:avLst/>
          </a:prstGeom>
          <a:noFill/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2103120"/>
            <a:ext cx="14081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818CF8"/>
                </a:solidFill>
                <a:latin typeface="Arial Black"/>
              </a:rPr>
              <a:t>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78608"/>
            <a:ext cx="1371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9498A6"/>
                </a:solidFill>
                <a:latin typeface="Calibri"/>
              </a:rPr>
              <a:t>Components and canvas node types built from shared primitives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96127" y="1353312"/>
            <a:ext cx="1591056" cy="34747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96127" y="1353312"/>
            <a:ext cx="1591056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53912" y="1536192"/>
            <a:ext cx="475488" cy="475488"/>
          </a:xfrm>
          <a:prstGeom prst="ellipse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53912" y="1536192"/>
            <a:ext cx="475488" cy="475488"/>
          </a:xfrm>
          <a:prstGeom prst="ellipse">
            <a:avLst/>
          </a:prstGeom>
          <a:noFill/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7" y="2103120"/>
            <a:ext cx="14081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BBF24"/>
                </a:solidFill>
                <a:latin typeface="Arial Black"/>
              </a:rPr>
              <a:t>Auditor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5855" y="2578608"/>
            <a:ext cx="1371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9498A6"/>
                </a:solidFill>
                <a:latin typeface="Calibri"/>
              </a:rPr>
              <a:t>Architecture review, performance, accessibility, code quality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353312"/>
            <a:ext cx="1591056" cy="34747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1353312"/>
            <a:ext cx="1591056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72983" y="1536192"/>
            <a:ext cx="475488" cy="475488"/>
          </a:xfrm>
          <a:prstGeom prst="ellipse">
            <a:avLst/>
          </a:prstGeom>
          <a:solidFill>
            <a:srgbClr val="34D399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72983" y="1536192"/>
            <a:ext cx="475488" cy="475488"/>
          </a:xfrm>
          <a:prstGeom prst="ellipse">
            <a:avLst/>
          </a:prstGeom>
          <a:noFill/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103120"/>
            <a:ext cx="14081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34D399"/>
                </a:solidFill>
                <a:latin typeface="Arial Black"/>
              </a:rPr>
              <a:t>Documenter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7" y="2578608"/>
            <a:ext cx="1371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9498A6"/>
                </a:solidFill>
                <a:latin typeface="Calibri"/>
              </a:rPr>
              <a:t>Records decisions, rationale, progress — builds the case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98A6"/>
                </a:solidFill>
                <a:latin typeface="Calibri"/>
              </a:rPr>
              <a:t>How a single prompt becomes a production-ready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417320"/>
            <a:ext cx="1956816" cy="342900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417320"/>
            <a:ext cx="1956816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536192"/>
            <a:ext cx="1682496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818CF8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286000"/>
            <a:ext cx="168249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Arial Black"/>
              </a:rPr>
              <a:t>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761488"/>
            <a:ext cx="1682496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852928"/>
            <a:ext cx="16824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498A6"/>
                </a:solidFill>
                <a:latin typeface="Calibri"/>
              </a:rPr>
              <a:t>Mirko defines the goal: a feature, design decision, or document to create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14016" y="2743200"/>
            <a:ext cx="91440" cy="18288"/>
          </a:xfrm>
          <a:prstGeom prst="rect">
            <a:avLst/>
          </a:prstGeom>
          <a:solidFill>
            <a:srgbClr val="9498A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23744" y="1417320"/>
            <a:ext cx="1956816" cy="342900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3744" y="1417320"/>
            <a:ext cx="1956816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536192"/>
            <a:ext cx="1682496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A78BFA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2286000"/>
            <a:ext cx="168249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Arial Black"/>
              </a:rPr>
              <a:t>Skill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2761488"/>
            <a:ext cx="1682496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2852928"/>
            <a:ext cx="16824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498A6"/>
                </a:solidFill>
                <a:latin typeface="Calibri"/>
              </a:rPr>
              <a:t>The right skill is invoked — /design, /component, /node, /document, /audit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2743200"/>
            <a:ext cx="91440" cy="18288"/>
          </a:xfrm>
          <a:prstGeom prst="rect">
            <a:avLst/>
          </a:prstGeom>
          <a:solidFill>
            <a:srgbClr val="9498A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576" y="1417320"/>
            <a:ext cx="1956816" cy="342900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8576" y="1417320"/>
            <a:ext cx="1956816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5736" y="1536192"/>
            <a:ext cx="1682496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34D399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2286000"/>
            <a:ext cx="168249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Arial Black"/>
              </a:rPr>
              <a:t>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5736" y="2761488"/>
            <a:ext cx="1682496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2852928"/>
            <a:ext cx="16824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498A6"/>
                </a:solidFill>
                <a:latin typeface="Calibri"/>
              </a:rPr>
              <a:t>Claude reads the skill prompt + full codebase context, executes autonomously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743200"/>
            <a:ext cx="91440" cy="18288"/>
          </a:xfrm>
          <a:prstGeom prst="rect">
            <a:avLst/>
          </a:prstGeom>
          <a:solidFill>
            <a:srgbClr val="9498A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93408" y="1417320"/>
            <a:ext cx="1956816" cy="342900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93408" y="1417320"/>
            <a:ext cx="1956816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1536192"/>
            <a:ext cx="1682496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BBF24"/>
                </a:solidFill>
                <a:latin typeface="Arial Black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286000"/>
            <a:ext cx="168249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Arial Black"/>
              </a:rPr>
              <a:t>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0568" y="2761488"/>
            <a:ext cx="1682496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2852928"/>
            <a:ext cx="16824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498A6"/>
                </a:solidFill>
                <a:latin typeface="Calibri"/>
              </a:rPr>
              <a:t>Mirko reviews, gives feedback, iterates — humans stay in creative and strategic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98A6"/>
                </a:solidFill>
                <a:latin typeface="Calibri"/>
              </a:rPr>
              <a:t>Production-grade tools — modern patterns, full type safety, component-level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89888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48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1508760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1883664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2103120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App Router with breaking changes navigated from scratch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389888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32888" y="1389888"/>
            <a:ext cx="54864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508760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83664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UI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Server Components + concurrent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1389888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26864" y="1389888"/>
            <a:ext cx="54864" cy="1417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1508760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TypeScript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1883664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18CF8"/>
                </a:solidFill>
                <a:latin typeface="Calibri"/>
              </a:rPr>
              <a:t>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103120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Strict typing across the entire codebase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1389888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1389888"/>
            <a:ext cx="54864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1" y="1508760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ReactFlow v12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1883664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CANVAS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2103120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React Flow v12 — the node graph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2971800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2971800"/>
            <a:ext cx="54864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3" y="3090672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Claude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3" y="3465576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34D399"/>
                </a:solidFill>
                <a:latin typeface="Calibri"/>
              </a:rPr>
              <a:t>AI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3" y="3685032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Run Flow synthesis + Digital Twins intelligence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2888" y="2971800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32888" y="2971800"/>
            <a:ext cx="54864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090672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Tailwind CSS v4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465576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BBF24"/>
                </a:solidFill>
                <a:latin typeface="Calibri"/>
              </a:rPr>
              <a:t>STYLING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3685032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Design tokens, glassmorphism, dark mode utilities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6864" y="2971800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26864" y="2971800"/>
            <a:ext cx="54864" cy="14173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3090672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Storybook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456" y="3465576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6B9D"/>
                </a:solidFill>
                <a:latin typeface="Calibri"/>
              </a:rPr>
              <a:t>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6" y="3685032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Component documentation and visual testing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2971800"/>
            <a:ext cx="1965960" cy="1417320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20840" y="2971800"/>
            <a:ext cx="54864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85431" y="3090672"/>
            <a:ext cx="170992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Arial Black"/>
              </a:rPr>
              <a:t>Vitest + Playwright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431" y="3465576"/>
            <a:ext cx="1709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1" y="3685032"/>
            <a:ext cx="1709928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9498A6"/>
                </a:solidFill>
                <a:latin typeface="Calibri"/>
              </a:rPr>
              <a:t>Unit, integration, and end-to-end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Architecture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98A6"/>
                </a:solidFill>
                <a:latin typeface="Calibri"/>
              </a:rPr>
              <a:t>Three foundational choices that shaped every component, every node, every pixel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8266175" cy="1078992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53312"/>
            <a:ext cx="64008" cy="107899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18CF8"/>
                </a:solidFill>
                <a:latin typeface="Calibri"/>
              </a:rPr>
              <a:t>UI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50" b="1" i="0">
                <a:solidFill>
                  <a:srgbClr val="FFFFFF"/>
                </a:solidFill>
                <a:latin typeface="Arial Black"/>
              </a:rPr>
              <a:t>shadcn-first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1490472"/>
            <a:ext cx="18288" cy="804672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444752"/>
            <a:ext cx="434340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Check shadcn/ui and the existing component library before writing any custom UI. This creates system-wide consistency and prevents reinventing primitives. Every node type is composed from shared pieces: NodeHandles, NodeActions, NodeHeader, EditableField.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587752"/>
            <a:ext cx="8266175" cy="1078992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587752"/>
            <a:ext cx="64008" cy="10789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9748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DESIGN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07792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50" b="1" i="0">
                <a:solidFill>
                  <a:srgbClr val="FFFFFF"/>
                </a:solidFill>
                <a:latin typeface="Arial Black"/>
              </a:rPr>
              <a:t>Glassmorphism Design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5072" y="2724912"/>
            <a:ext cx="18288" cy="804672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679192"/>
            <a:ext cx="434340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All app overlays (header, toolbar, status bar, prompt bar) use GLASS_CONTAINER_CLASS with backdrop-blur. Canvas nodes are exempt — they use solid --node-bg for legibility. The whole system is token-driven: --glass-bg, --radius-*, --node-bg in globals.css.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822191"/>
            <a:ext cx="8266175" cy="1078992"/>
          </a:xfrm>
          <a:prstGeom prst="rect">
            <a:avLst/>
          </a:prstGeom>
          <a:solidFill>
            <a:srgbClr val="26272B"/>
          </a:solidFill>
          <a:ln w="6350">
            <a:solidFill>
              <a:srgbClr val="36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3822191"/>
            <a:ext cx="64008" cy="10789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3192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34D399"/>
                </a:solidFill>
                <a:latin typeface="Calibri"/>
              </a:rPr>
              <a:t>EXTENSIBILITY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42231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50" b="1" i="0">
                <a:solidFill>
                  <a:srgbClr val="FFFFFF"/>
                </a:solidFill>
                <a:latin typeface="Arial Black"/>
              </a:rPr>
              <a:t>Node Composition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5072" y="3959352"/>
            <a:ext cx="18288" cy="804672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3913631"/>
            <a:ext cx="434340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Every canvas node shares the same anatomical pattern. Adding a new node type is predictable: implement NodeHandles + NodeActions + NodeHeader + EditableField, apply the accent color from the design token map, register in the node factory.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389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BrainFlow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818CF8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61872"/>
            <a:ext cx="420624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98A6"/>
                </a:solidFill>
                <a:latin typeface="Calibri"/>
              </a:rPr>
              <a:t>A canvas-based brainstorming tool where ideas become structured AI outputs. Build a visual graph — connect concepts, goals, questions, and Digital Twin personas — then synthesize everything through a single Run Flow node.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98A6"/>
                </a:solidFill>
                <a:latin typeface="Calibri"/>
              </a:rPr>
              <a:t>The Core Loop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3163824"/>
            <a:ext cx="256032" cy="2560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F0F1F5"/>
                </a:solidFill>
                <a:latin typeface="Calibri"/>
              </a:rPr>
              <a:t>1  Create nodes on the canvas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602736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F0F1F5"/>
                </a:solidFill>
                <a:latin typeface="Calibri"/>
              </a:rPr>
              <a:t>2  Connect them freely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4041648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05072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F0F1F5"/>
                </a:solidFill>
                <a:latin typeface="Calibri"/>
              </a:rPr>
              <a:t>3  Attach to a Run Flow node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480559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43983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F0F1F5"/>
                </a:solidFill>
                <a:latin typeface="Calibri"/>
              </a:rPr>
              <a:t>4  Get structured AI 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47472"/>
            <a:ext cx="1691640" cy="566928"/>
          </a:xfrm>
          <a:prstGeom prst="rect">
            <a:avLst/>
          </a:prstGeom>
          <a:solidFill>
            <a:srgbClr val="26272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347472"/>
            <a:ext cx="169164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"/>
            <a:ext cx="1508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1F5"/>
                </a:solidFill>
                <a:latin typeface="Calibri"/>
              </a:rPr>
              <a:t>Concept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47472"/>
            <a:ext cx="1691640" cy="566928"/>
          </a:xfrm>
          <a:prstGeom prst="rect">
            <a:avLst/>
          </a:prstGeom>
          <a:solidFill>
            <a:srgbClr val="26272B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347472"/>
            <a:ext cx="169164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"/>
            <a:ext cx="1508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1F5"/>
                </a:solidFill>
                <a:latin typeface="Calibri"/>
              </a:rPr>
              <a:t>Text Note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097280"/>
            <a:ext cx="1691640" cy="566928"/>
          </a:xfrm>
          <a:prstGeom prst="rect">
            <a:avLst/>
          </a:prstGeom>
          <a:solidFill>
            <a:srgbClr val="26272B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1097280"/>
            <a:ext cx="169164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097280"/>
            <a:ext cx="1508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1F5"/>
                </a:solidFill>
                <a:latin typeface="Calibri"/>
              </a:rPr>
              <a:t>Goal Card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097280"/>
            <a:ext cx="1691640" cy="566928"/>
          </a:xfrm>
          <a:prstGeom prst="rect">
            <a:avLst/>
          </a:prstGeom>
          <a:solidFill>
            <a:srgbClr val="26272B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097280"/>
            <a:ext cx="169164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097280"/>
            <a:ext cx="1508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1F5"/>
                </a:solidFill>
                <a:latin typeface="Calibri"/>
              </a:rPr>
              <a:t>Digital Twin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1847088"/>
            <a:ext cx="1691640" cy="566928"/>
          </a:xfrm>
          <a:prstGeom prst="rect">
            <a:avLst/>
          </a:prstGeom>
          <a:solidFill>
            <a:srgbClr val="26272B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1847088"/>
            <a:ext cx="169164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847088"/>
            <a:ext cx="1508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1F5"/>
                </a:solidFill>
                <a:latin typeface="Calibri"/>
              </a:rPr>
              <a:t>Perplexity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1847088"/>
            <a:ext cx="1691640" cy="566928"/>
          </a:xfrm>
          <a:prstGeom prst="rect">
            <a:avLst/>
          </a:prstGeom>
          <a:solidFill>
            <a:srgbClr val="26272B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1847088"/>
            <a:ext cx="16916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1847088"/>
            <a:ext cx="1508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1F5"/>
                </a:solidFill>
                <a:latin typeface="Calibri"/>
              </a:rPr>
              <a:t>Image 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2816352"/>
            <a:ext cx="2971800" cy="749808"/>
          </a:xfrm>
          <a:prstGeom prst="rect">
            <a:avLst/>
          </a:prstGeom>
          <a:solidFill>
            <a:srgbClr val="26272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32120" y="2816352"/>
            <a:ext cx="29718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59" y="2816352"/>
            <a:ext cx="27889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1F5"/>
                </a:solidFill>
                <a:latin typeface="Calibri"/>
              </a:rPr>
              <a:t>⚡  Run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9008" y="2432304"/>
            <a:ext cx="18288" cy="384048"/>
          </a:xfrm>
          <a:prstGeom prst="rect">
            <a:avLst/>
          </a:prstGeom>
          <a:solidFill>
            <a:srgbClr val="9498A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40880" y="2432304"/>
            <a:ext cx="18288" cy="384048"/>
          </a:xfrm>
          <a:prstGeom prst="rect">
            <a:avLst/>
          </a:prstGeom>
          <a:solidFill>
            <a:srgbClr val="9498A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432304"/>
            <a:ext cx="18288" cy="384048"/>
          </a:xfrm>
          <a:prstGeom prst="rect">
            <a:avLst/>
          </a:prstGeom>
          <a:solidFill>
            <a:srgbClr val="9498A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26080" y="274320"/>
            <a:ext cx="3291840" cy="3291840"/>
          </a:xfrm>
          <a:prstGeom prst="ellipse">
            <a:avLst/>
          </a:prstGeom>
          <a:solidFill>
            <a:srgbClr val="818C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Digital Twins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98A6"/>
                </a:solidFill>
                <a:latin typeface="Calibri"/>
              </a:rPr>
              <a:t>AI personas with programmable behavior — a simulated team living on your canvas</a:t>
            </a:r>
          </a:p>
        </p:txBody>
      </p:sp>
      <p:sp>
        <p:nvSpPr>
          <p:cNvPr id="5" name="Oval 4"/>
          <p:cNvSpPr/>
          <p:nvPr/>
        </p:nvSpPr>
        <p:spPr>
          <a:xfrm>
            <a:off x="3520440" y="1417320"/>
            <a:ext cx="2103120" cy="2103120"/>
          </a:xfrm>
          <a:prstGeom prst="ellipse">
            <a:avLst/>
          </a:prstGeom>
          <a:solidFill>
            <a:srgbClr val="818CF8">
              <a:alpha val="18000"/>
            </a:srgbClr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691640"/>
            <a:ext cx="21031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Digital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Twin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17320"/>
            <a:ext cx="2651760" cy="1508760"/>
          </a:xfrm>
          <a:prstGeom prst="rect">
            <a:avLst/>
          </a:prstGeom>
          <a:solidFill>
            <a:srgbClr val="26272B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17320"/>
            <a:ext cx="2651760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6B9D"/>
                </a:solidFill>
                <a:latin typeface="Arial Black"/>
              </a:rPr>
              <a:t>Contraddici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29968"/>
            <a:ext cx="2331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Devil's advocate — challenges every assumption, pushes back on ideas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2651760" cy="1508760"/>
          </a:xfrm>
          <a:prstGeom prst="rect">
            <a:avLst/>
          </a:prstGeom>
          <a:solidFill>
            <a:srgbClr val="26272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265176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72768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34D399"/>
                </a:solidFill>
                <a:latin typeface="Arial Black"/>
              </a:rPr>
              <a:t>Collabora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2331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Builds on ideas, suggests expansions and new connections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273552"/>
            <a:ext cx="2651760" cy="1508760"/>
          </a:xfrm>
          <a:prstGeom prst="rect">
            <a:avLst/>
          </a:prstGeom>
          <a:solidFill>
            <a:srgbClr val="26272B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273552"/>
            <a:ext cx="26517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BBF24"/>
                </a:solidFill>
                <a:latin typeface="Arial Black"/>
              </a:rPr>
              <a:t>Analizza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331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Critical breakdown — finds gaps, blind spots, logical inconsistencies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273552"/>
            <a:ext cx="2651760" cy="1508760"/>
          </a:xfrm>
          <a:prstGeom prst="rect">
            <a:avLst/>
          </a:prstGeom>
          <a:solidFill>
            <a:srgbClr val="26272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273552"/>
            <a:ext cx="26517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42900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A78BFA"/>
                </a:solidFill>
                <a:latin typeface="Arial Black"/>
              </a:rPr>
              <a:t>Provoca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886200"/>
            <a:ext cx="2331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98A6"/>
                </a:solidFill>
                <a:latin typeface="Calibri"/>
              </a:rPr>
              <a:t>Pushes thinking to the extreme — radical reframes and bold provocations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98A6"/>
                </a:solidFill>
                <a:latin typeface="Calibri"/>
              </a:rPr>
              <a:t>One developer, directing AI across design, engineering, documentation, and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53312"/>
            <a:ext cx="1965960" cy="3520440"/>
          </a:xfrm>
          <a:prstGeom prst="rect">
            <a:avLst/>
          </a:prstGeom>
          <a:solidFill>
            <a:srgbClr val="26272B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53312"/>
            <a:ext cx="196596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746504" cy="1051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818CF8"/>
                </a:solidFill>
                <a:latin typeface="Arial Black"/>
              </a:rPr>
              <a:t>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17465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1" i="0">
                <a:solidFill>
                  <a:srgbClr val="FFFFFF"/>
                </a:solidFill>
                <a:latin typeface="Arial Black"/>
              </a:rPr>
              <a:t>Node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035808"/>
            <a:ext cx="1600200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27248"/>
            <a:ext cx="1746504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498A6"/>
                </a:solidFill>
                <a:latin typeface="Calibri"/>
              </a:rPr>
              <a:t>Text, Concept, Image, Run Flow, Goal, Perplexity, Digital Twin — each composable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3744" y="1353312"/>
            <a:ext cx="1965960" cy="3520440"/>
          </a:xfrm>
          <a:prstGeom prst="rect">
            <a:avLst/>
          </a:prstGeom>
          <a:solidFill>
            <a:srgbClr val="26272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23744" y="1353312"/>
            <a:ext cx="19659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481328"/>
            <a:ext cx="1746504" cy="1051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A78BFA"/>
                </a:solidFill>
                <a:latin typeface="Arial Blac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578608"/>
            <a:ext cx="17465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1" i="0">
                <a:solidFill>
                  <a:srgbClr val="FFFFFF"/>
                </a:solidFill>
                <a:latin typeface="Arial Black"/>
              </a:rPr>
              <a:t>AI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6624" y="3035808"/>
            <a:ext cx="1600200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3127248"/>
            <a:ext cx="1746504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498A6"/>
                </a:solidFill>
                <a:latin typeface="Calibri"/>
              </a:rPr>
              <a:t>Explorer, Designer, Builder, Auditor, Documenter — each with defined skill prompts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8575" y="1353312"/>
            <a:ext cx="1965960" cy="3520440"/>
          </a:xfrm>
          <a:prstGeom prst="rect">
            <a:avLst/>
          </a:prstGeom>
          <a:solidFill>
            <a:srgbClr val="26272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08575" y="1353312"/>
            <a:ext cx="196596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3" y="1481328"/>
            <a:ext cx="1746504" cy="1051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34D399"/>
                </a:solidFill>
                <a:latin typeface="Arial Black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3" y="2578608"/>
            <a:ext cx="17465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1" i="0">
                <a:solidFill>
                  <a:srgbClr val="FFFFFF"/>
                </a:solidFill>
                <a:latin typeface="Arial Black"/>
              </a:rPr>
              <a:t>Design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91455" y="3035808"/>
            <a:ext cx="1600200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3" y="3127248"/>
            <a:ext cx="1746504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498A6"/>
                </a:solidFill>
                <a:latin typeface="Calibri"/>
              </a:rPr>
              <a:t>Token-driven, glassmorphism, dark mode, consistent across every component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1353312"/>
            <a:ext cx="1965960" cy="3520440"/>
          </a:xfrm>
          <a:prstGeom prst="rect">
            <a:avLst/>
          </a:prstGeom>
          <a:solidFill>
            <a:srgbClr val="26272B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93408" y="1353312"/>
            <a:ext cx="19659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1481328"/>
            <a:ext cx="1746504" cy="1051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FBBF24"/>
                </a:solidFill>
                <a:latin typeface="Arial Black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2578608"/>
            <a:ext cx="17465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1" i="0">
                <a:solidFill>
                  <a:srgbClr val="FFFFFF"/>
                </a:solidFill>
                <a:latin typeface="Arial Black"/>
              </a:rPr>
              <a:t>Developer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035808"/>
            <a:ext cx="1600200" cy="18288"/>
          </a:xfrm>
          <a:prstGeom prst="rect">
            <a:avLst/>
          </a:prstGeom>
          <a:solidFill>
            <a:srgbClr val="363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3127248"/>
            <a:ext cx="1746504" cy="1508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498A6"/>
                </a:solidFill>
                <a:latin typeface="Calibri"/>
              </a:rPr>
              <a:t>Full orchestration of design + engineering + docs + pitch by a single human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34D3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182880"/>
            <a:ext cx="4572000" cy="4572000"/>
          </a:xfrm>
          <a:prstGeom prst="ellipse">
            <a:avLst/>
          </a:prstGeom>
          <a:solidFill>
            <a:srgbClr val="818CF8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685800"/>
            <a:ext cx="5852160" cy="27432"/>
          </a:xfrm>
          <a:prstGeom prst="rect">
            <a:avLst/>
          </a:prstGeom>
          <a:solidFill>
            <a:srgbClr val="818CF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768096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 Black"/>
              </a:rPr>
              <a:t>One person.</a:t>
            </a:r>
          </a:p>
          <a:p>
            <a:pPr algn="ctr"/>
            <a:r>
              <a:rPr sz="5400" b="1">
                <a:solidFill>
                  <a:srgbClr val="818CF8"/>
                </a:solidFill>
                <a:latin typeface="Arial Black"/>
              </a:rPr>
              <a:t>Full orchestration.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456432"/>
            <a:ext cx="5852160" cy="27432"/>
          </a:xfrm>
          <a:prstGeom prst="rect">
            <a:avLst/>
          </a:prstGeom>
          <a:solidFill>
            <a:srgbClr val="818CF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6949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9498A6"/>
                </a:solidFill>
                <a:latin typeface="Calibri"/>
              </a:rPr>
              <a:t>Not replacing a team — proving what's possible</a:t>
            </a:r>
          </a:p>
          <a:p>
            <a:pPr algn="ctr"/>
            <a:r>
              <a:rPr sz="1500" b="0" i="0">
                <a:solidFill>
                  <a:srgbClr val="9498A6"/>
                </a:solidFill>
                <a:latin typeface="Calibri"/>
              </a:rPr>
              <a:t>when human creativity directs AI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498A6"/>
                </a:solidFill>
                <a:latin typeface="Calibri"/>
              </a:rPr>
              <a:t>BrainFlow  ·  Mirko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